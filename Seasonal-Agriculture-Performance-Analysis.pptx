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22"/>
  </p:handoutMasterIdLst>
  <p:sldIdLst>
    <p:sldId id="338" r:id="rId3"/>
    <p:sldId id="327" r:id="rId4"/>
    <p:sldId id="315" r:id="rId5"/>
    <p:sldId id="329" r:id="rId6"/>
    <p:sldId id="302" r:id="rId7"/>
    <p:sldId id="339" r:id="rId9"/>
    <p:sldId id="344" r:id="rId10"/>
    <p:sldId id="345" r:id="rId11"/>
    <p:sldId id="346" r:id="rId12"/>
    <p:sldId id="347" r:id="rId13"/>
    <p:sldId id="351" r:id="rId14"/>
    <p:sldId id="352" r:id="rId15"/>
    <p:sldId id="353" r:id="rId16"/>
    <p:sldId id="354"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25" userDrawn="1">
          <p15:clr>
            <a:srgbClr val="A4A3A4"/>
          </p15:clr>
        </p15:guide>
        <p15:guide id="3" orient="horz" pos="3885" userDrawn="1">
          <p15:clr>
            <a:srgbClr val="A4A3A4"/>
          </p15:clr>
        </p15:guide>
        <p15:guide id="4" pos="7307"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68"/>
        <p:guide pos="425"/>
        <p:guide orient="horz" pos="3885"/>
        <p:guide pos="7307"/>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customXml" Target="../customXml/item3.xml"/><Relationship Id="rId27" Type="http://schemas.openxmlformats.org/officeDocument/2006/relationships/customXml" Target="../customXml/item2.xml"/><Relationship Id="rId26" Type="http://schemas.openxmlformats.org/officeDocument/2006/relationships/customXml" Target="../customXml/item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24.png"/><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9.xml"/><Relationship Id="rId2" Type="http://schemas.openxmlformats.org/officeDocument/2006/relationships/image" Target="../media/image32.png"/><Relationship Id="rId1"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3.jpe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222885" y="3583940"/>
            <a:ext cx="9692005" cy="1176020"/>
          </a:xfrm>
        </p:spPr>
        <p:txBody>
          <a:bodyPr vert="horz" lIns="91440" tIns="45720" rIns="91440" bIns="45720" rtlCol="0" anchor="t">
            <a:normAutofit fontScale="80000"/>
          </a:bodyPr>
          <a:lstStyle/>
          <a:p>
            <a:pPr algn="just"/>
            <a:r>
              <a:rPr lang="en-US" b="0" dirty="0">
                <a:solidFill>
                  <a:schemeClr val="tx1"/>
                </a:solidFill>
              </a:rPr>
              <a:t>              </a:t>
            </a:r>
            <a:r>
              <a:rPr lang="en-US" b="0" dirty="0">
                <a:solidFill>
                  <a:schemeClr val="tx1"/>
                </a:solidFill>
                <a:latin typeface="Times New Roman" panose="02020603050405020304" charset="0"/>
                <a:cs typeface="Times New Roman" panose="02020603050405020304" charset="0"/>
              </a:rPr>
              <a:t> </a:t>
            </a:r>
            <a:r>
              <a:rPr lang="en-US" sz="2855" b="0" dirty="0">
                <a:solidFill>
                  <a:schemeClr val="tx1"/>
                </a:solidFill>
                <a:latin typeface="Times New Roman" panose="02020603050405020304" charset="0"/>
                <a:cs typeface="Times New Roman" panose="02020603050405020304" charset="0"/>
              </a:rPr>
              <a:t> </a:t>
            </a:r>
            <a:r>
              <a:rPr lang="en-US" sz="2855" dirty="0">
                <a:ln>
                  <a:solidFill>
                    <a:schemeClr val="tx1"/>
                  </a:solidFill>
                </a:ln>
                <a:solidFill>
                  <a:schemeClr val="tx1"/>
                </a:solidFill>
                <a:latin typeface="Times New Roman" panose="02020603050405020304" charset="0"/>
                <a:cs typeface="Times New Roman" panose="02020603050405020304" charset="0"/>
              </a:rPr>
              <a:t> </a:t>
            </a:r>
            <a:r>
              <a:rPr lang="en-US" sz="2855" dirty="0">
                <a:ln>
                  <a:noFill/>
                </a:ln>
                <a:solidFill>
                  <a:schemeClr val="tx1"/>
                </a:solidFill>
                <a:latin typeface="Times New Roman" panose="02020603050405020304" charset="0"/>
                <a:cs typeface="Times New Roman" panose="02020603050405020304" charset="0"/>
              </a:rPr>
              <a:t>Student Name:</a:t>
            </a:r>
            <a:r>
              <a:rPr lang="en-US" sz="2855" b="0" dirty="0">
                <a:ln>
                  <a:solidFill>
                    <a:schemeClr val="tx1"/>
                  </a:solidFill>
                </a:ln>
                <a:solidFill>
                  <a:schemeClr val="tx1"/>
                </a:solidFill>
                <a:latin typeface="Times New Roman" panose="02020603050405020304" charset="0"/>
                <a:cs typeface="Times New Roman" panose="02020603050405020304" charset="0"/>
              </a:rPr>
              <a:t> </a:t>
            </a:r>
            <a:r>
              <a:rPr lang="en-US" sz="2570" b="0" dirty="0">
                <a:solidFill>
                  <a:schemeClr val="tx1"/>
                </a:solidFill>
                <a:latin typeface="Times New Roman" panose="02020603050405020304" charset="0"/>
                <a:cs typeface="Times New Roman" panose="02020603050405020304" charset="0"/>
              </a:rPr>
              <a:t>Harischandra Prasad Vissamsetti</a:t>
            </a:r>
            <a:endParaRPr lang="en-US" b="0" dirty="0">
              <a:solidFill>
                <a:schemeClr val="tx1"/>
              </a:solidFill>
            </a:endParaRPr>
          </a:p>
          <a:p>
            <a:pPr algn="just"/>
            <a:r>
              <a:rPr lang="en-US" b="0" dirty="0">
                <a:solidFill>
                  <a:schemeClr val="tx1"/>
                </a:solidFill>
              </a:rPr>
              <a:t>               </a:t>
            </a:r>
            <a:r>
              <a:rPr lang="en-US" sz="2855" dirty="0">
                <a:solidFill>
                  <a:schemeClr val="tx1"/>
                </a:solidFill>
              </a:rPr>
              <a:t> </a:t>
            </a:r>
            <a:r>
              <a:rPr lang="en-US" sz="2855" dirty="0">
                <a:solidFill>
                  <a:schemeClr val="tx1"/>
                </a:solidFill>
                <a:latin typeface="Times New Roman" panose="02020603050405020304" charset="0"/>
                <a:cs typeface="Times New Roman" panose="02020603050405020304" charset="0"/>
              </a:rPr>
              <a:t>College Name:</a:t>
            </a:r>
            <a:r>
              <a:rPr lang="en-US" dirty="0">
                <a:solidFill>
                  <a:schemeClr val="tx1"/>
                </a:solidFill>
                <a:latin typeface="Times New Roman" panose="02020603050405020304" charset="0"/>
                <a:cs typeface="Times New Roman" panose="02020603050405020304" charset="0"/>
              </a:rPr>
              <a:t>    </a:t>
            </a:r>
            <a:r>
              <a:rPr lang="en-US" altLang="en-GB" sz="2250" b="0" dirty="0">
                <a:solidFill>
                  <a:schemeClr val="tx1"/>
                </a:solidFill>
                <a:latin typeface="Times New Roman" panose="02020603050405020304" charset="0"/>
                <a:cs typeface="Times New Roman" panose="02020603050405020304" charset="0"/>
              </a:rPr>
              <a:t>Parvathaneni Brahmayya Siddhartha College of Arts &amp;  Science</a:t>
            </a:r>
            <a:endParaRPr lang="en-US" altLang="en-GB" sz="2250" b="0" dirty="0">
              <a:solidFill>
                <a:schemeClr val="tx1"/>
              </a:solidFill>
              <a:latin typeface="Times New Roman" panose="02020603050405020304" charset="0"/>
              <a:cs typeface="Times New Roman" panose="02020603050405020304" charset="0"/>
            </a:endParaRPr>
          </a:p>
          <a:p>
            <a:pPr algn="r"/>
            <a:endParaRPr lang="en-US" b="0" dirty="0">
              <a:solidFill>
                <a:schemeClr val="tx1"/>
              </a:solidFill>
              <a:latin typeface="Times New Roman" panose="02020603050405020304" charset="0"/>
              <a:cs typeface="Times New Roman" panose="02020603050405020304" charset="0"/>
            </a:endParaRPr>
          </a:p>
          <a:p>
            <a:pPr algn="just"/>
            <a:endParaRPr lang="en-IN" b="0" dirty="0">
              <a:solidFill>
                <a:schemeClr val="tx1"/>
              </a:solidFill>
            </a:endParaRPr>
          </a:p>
          <a:p>
            <a:pPr algn="r"/>
            <a:endParaRPr lang="en-IN" b="0" dirty="0">
              <a:solidFill>
                <a:schemeClr val="tx1"/>
              </a:solidFill>
            </a:endParaRPr>
          </a:p>
        </p:txBody>
      </p:sp>
      <p:sp>
        <p:nvSpPr>
          <p:cNvPr id="4" name="Title 3"/>
          <p:cNvSpPr>
            <a:spLocks noGrp="1"/>
          </p:cNvSpPr>
          <p:nvPr>
            <p:ph type="title"/>
          </p:nvPr>
        </p:nvSpPr>
        <p:spPr>
          <a:xfrm>
            <a:off x="678180" y="2844800"/>
            <a:ext cx="10922000" cy="743585"/>
          </a:xfrm>
        </p:spPr>
        <p:txBody>
          <a:bodyPr>
            <a:normAutofit/>
          </a:bodyPr>
          <a:lstStyle/>
          <a:p>
            <a:r>
              <a:rPr lang="en-US" altLang="en-GB" sz="3200" b="1" dirty="0">
                <a:latin typeface="Times New Roman" panose="02020603050405020304" charset="0"/>
                <a:cs typeface="Times New Roman" panose="02020603050405020304" charset="0"/>
              </a:rPr>
              <a:t> </a:t>
            </a:r>
            <a:r>
              <a:rPr lang="en-GB" sz="3200" b="1" dirty="0">
                <a:latin typeface="Times New Roman" panose="02020603050405020304" charset="0"/>
                <a:cs typeface="Times New Roman" panose="02020603050405020304" charset="0"/>
              </a:rPr>
              <a:t>Project Title</a:t>
            </a:r>
            <a:r>
              <a:rPr lang="en-GB" sz="3200" dirty="0">
                <a:latin typeface="Times New Roman" panose="02020603050405020304" charset="0"/>
                <a:cs typeface="Times New Roman" panose="02020603050405020304" charset="0"/>
              </a:rPr>
              <a:t> -</a:t>
            </a:r>
            <a:r>
              <a:rPr lang="en-US" altLang="en-GB" sz="3200" dirty="0">
                <a:latin typeface="Times New Roman" panose="02020603050405020304" charset="0"/>
                <a:cs typeface="Times New Roman" panose="02020603050405020304" charset="0"/>
              </a:rPr>
              <a:t> Seasonal Agriculture Performance Analysis</a:t>
            </a:r>
            <a:endParaRPr lang="en-US" altLang="en-GB" sz="3200" dirty="0">
              <a:latin typeface="Times New Roman" panose="02020603050405020304" charset="0"/>
              <a:cs typeface="Times New Roman" panose="02020603050405020304" charset="0"/>
            </a:endParaRPr>
          </a:p>
        </p:txBody>
      </p:sp>
      <p:sp>
        <p:nvSpPr>
          <p:cNvPr id="15" name="Text Placeholder 1"/>
          <p:cNvSpPr txBox="1"/>
          <p:nvPr/>
        </p:nvSpPr>
        <p:spPr>
          <a:xfrm>
            <a:off x="6400800" y="2794000"/>
            <a:ext cx="4613275" cy="861695"/>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500380" y="4507865"/>
            <a:ext cx="7473950" cy="867410"/>
          </a:xfrm>
          <a:prstGeom prst="rect">
            <a:avLst/>
          </a:prstGeom>
          <a:noFill/>
        </p:spPr>
        <p:txBody>
          <a:bodyPr wrap="square" rtlCol="0">
            <a:noAutofit/>
          </a:bodyPr>
          <a:lstStyle/>
          <a:p>
            <a:pPr algn="l"/>
            <a:r>
              <a:rPr lang="en-US" sz="1700" b="1" dirty="0">
                <a:latin typeface="Times New Roman" panose="02020603050405020304" charset="0"/>
                <a:cs typeface="Times New Roman" panose="02020603050405020304" charset="0"/>
              </a:rPr>
              <a:t>   </a:t>
            </a:r>
            <a:r>
              <a:rPr lang="en-US" sz="2300" b="1" dirty="0">
                <a:latin typeface="Times New Roman" panose="02020603050405020304" charset="0"/>
                <a:cs typeface="Times New Roman" panose="02020603050405020304" charset="0"/>
              </a:rPr>
              <a:t>  AICTE STU ID:</a:t>
            </a:r>
            <a:r>
              <a:rPr lang="en-US" sz="1600" b="1" dirty="0"/>
              <a:t> </a:t>
            </a:r>
            <a:r>
              <a:rPr lang="en-US" altLang="en-GB" sz="1600" dirty="0"/>
              <a:t>STU65325acd226401697798861</a:t>
            </a:r>
            <a:endParaRPr lang="en-US" altLang="en-GB"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1875556"/>
            <a:ext cx="6431280" cy="3607987"/>
          </a:xfrm>
        </p:spPr>
        <p:txBody>
          <a:bodyPr vert="horz" lIns="91440" tIns="45720" rIns="91440" bIns="45720" rtlCol="0" anchor="t">
            <a:normAutofit/>
          </a:bodyPr>
          <a:lstStyle/>
          <a:p>
            <a:pPr marL="0" indent="0" algn="just">
              <a:lnSpc>
                <a:spcPct val="100000"/>
              </a:lnSpc>
              <a:buNone/>
            </a:pPr>
            <a:r>
              <a:rPr lang="en-US" dirty="0">
                <a:latin typeface="Times New Roman" panose="02020603050405020304" charset="0"/>
                <a:cs typeface="Times New Roman" panose="0202060305040502030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latin typeface="Times New Roman" panose="02020603050405020304" charset="0"/>
              <a:cs typeface="Times New Roman" panose="02020603050405020304" charset="0"/>
            </a:endParaRPr>
          </a:p>
        </p:txBody>
      </p:sp>
      <p:sp>
        <p:nvSpPr>
          <p:cNvPr id="4" name="Title 3"/>
          <p:cNvSpPr>
            <a:spLocks noGrp="1"/>
          </p:cNvSpPr>
          <p:nvPr>
            <p:ph type="title"/>
          </p:nvPr>
        </p:nvSpPr>
        <p:spPr>
          <a:xfrm>
            <a:off x="754380" y="988060"/>
            <a:ext cx="6995795" cy="707390"/>
          </a:xfrm>
        </p:spPr>
        <p:txBody>
          <a:bodyPr>
            <a:normAutofit/>
          </a:bodyPr>
          <a:lstStyle/>
          <a:p>
            <a:r>
              <a:rPr lang="en-US" sz="2500" dirty="0">
                <a:latin typeface="Times New Roman" panose="02020603050405020304" charset="0"/>
                <a:cs typeface="Times New Roman" panose="02020603050405020304" charset="0"/>
              </a:rPr>
              <a:t>  PROBLEM  STATEMENT</a:t>
            </a:r>
            <a:endParaRPr lang="en-IN" sz="2500" dirty="0">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sz="2780" dirty="0">
                <a:latin typeface="Times New Roman" panose="02020603050405020304" charset="0"/>
                <a:cs typeface="Times New Roman" panose="02020603050405020304" charset="0"/>
              </a:rPr>
              <a:t>Project Description</a:t>
            </a:r>
            <a:br>
              <a:rPr lang="en-GB" dirty="0"/>
            </a:br>
            <a:endParaRPr lang="en-IN"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2" name="Text Box 1"/>
          <p:cNvSpPr txBox="1"/>
          <p:nvPr/>
        </p:nvSpPr>
        <p:spPr>
          <a:xfrm>
            <a:off x="688340" y="1310005"/>
            <a:ext cx="8921115" cy="4159250"/>
          </a:xfrm>
          <a:prstGeom prst="rect">
            <a:avLst/>
          </a:prstGeom>
          <a:noFill/>
        </p:spPr>
        <p:txBody>
          <a:bodyPr wrap="square" rtlCol="0">
            <a:noAutofit/>
          </a:bodyPr>
          <a:p>
            <a:pPr algn="just"/>
            <a:r>
              <a:rPr lang="en-US" altLang="en-GB">
                <a:latin typeface="Times New Roman" panose="02020603050405020304" charset="0"/>
                <a:cs typeface="Times New Roman" panose="02020603050405020304" charset="0"/>
              </a:rPr>
              <a:t>This major project focuses on conducting a comprehensive, data-driven analysis of agricultural performance across different seasons. Utilizing a robust dataset containing 4,000 farm-level records across 8 states, the project examines the complex relationships between climatic conditions, resource usage, crop characteristics, and financial outcomes.</a:t>
            </a:r>
            <a:endParaRPr lang="en-US" altLang="en-GB">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GB" sz="2000" b="1">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GB" sz="2000" b="1">
                <a:latin typeface="Times New Roman" panose="02020603050405020304" charset="0"/>
                <a:cs typeface="Times New Roman" panose="02020603050405020304" charset="0"/>
              </a:rPr>
              <a:t>Data Preprocessing:</a:t>
            </a:r>
            <a:r>
              <a:rPr lang="en-US" altLang="en-GB" sz="2000">
                <a:latin typeface="Times New Roman" panose="02020603050405020304" charset="0"/>
                <a:cs typeface="Times New Roman" panose="02020603050405020304" charset="0"/>
              </a:rPr>
              <a:t> </a:t>
            </a:r>
            <a:r>
              <a:rPr lang="en-US" altLang="en-GB">
                <a:latin typeface="Times New Roman" panose="02020603050405020304" charset="0"/>
                <a:cs typeface="Times New Roman" panose="02020603050405020304" charset="0"/>
              </a:rPr>
              <a:t>Cleaning and structuring raw agricultural records to ensure high data quality and reliability.</a:t>
            </a:r>
            <a:endParaRPr lang="en-US" altLang="en-GB">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GB" sz="20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GB" sz="2000" b="1">
                <a:latin typeface="Times New Roman" panose="02020603050405020304" charset="0"/>
                <a:cs typeface="Times New Roman" panose="02020603050405020304" charset="0"/>
              </a:rPr>
              <a:t>Exploratory Data Analysis (EDA)</a:t>
            </a:r>
            <a:r>
              <a:rPr lang="en-US" altLang="en-GB" b="1">
                <a:latin typeface="Times New Roman" panose="02020603050405020304" charset="0"/>
                <a:cs typeface="Times New Roman" panose="02020603050405020304" charset="0"/>
              </a:rPr>
              <a:t>:</a:t>
            </a:r>
            <a:r>
              <a:rPr lang="en-US" altLang="en-GB">
                <a:latin typeface="Times New Roman" panose="02020603050405020304" charset="0"/>
                <a:cs typeface="Times New Roman" panose="02020603050405020304" charset="0"/>
              </a:rPr>
              <a:t> Performing descriptive and statistical evaluations to uncover underlying trends in crop yield, production volume, total costs, and net profits.</a:t>
            </a:r>
            <a:endParaRPr lang="en-US" altLang="en-GB">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GB" sz="2000" b="1">
                <a:latin typeface="Times New Roman" panose="02020603050405020304" charset="0"/>
                <a:cs typeface="Times New Roman" panose="02020603050405020304" charset="0"/>
              </a:rPr>
              <a:t>Seasonal &amp; Resource Evaluation:</a:t>
            </a:r>
            <a:r>
              <a:rPr lang="en-US" altLang="en-GB" sz="2000">
                <a:latin typeface="Times New Roman" panose="02020603050405020304" charset="0"/>
                <a:cs typeface="Times New Roman" panose="02020603050405020304" charset="0"/>
              </a:rPr>
              <a:t> </a:t>
            </a:r>
            <a:r>
              <a:rPr lang="en-US" altLang="en-GB">
                <a:latin typeface="Times New Roman" panose="02020603050405020304" charset="0"/>
                <a:cs typeface="Times New Roman" panose="02020603050405020304" charset="0"/>
              </a:rPr>
              <a:t>Analyzing variations in seasonal performance alongside factors such as irrigation methods, fertilizer application, water efficiency, and pest risks.</a:t>
            </a:r>
            <a:endParaRPr lang="en-US" altLang="en-GB">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indent="0" algn="just">
              <a:buFont typeface="Arial" panose="020B0604020202020204" pitchFamily="34" charset="0"/>
              <a:buNone/>
            </a:pPr>
            <a:r>
              <a:rPr lang="en-US" altLang="en-GB">
                <a:latin typeface="Times New Roman" panose="02020603050405020304" charset="0"/>
                <a:cs typeface="Times New Roman" panose="02020603050405020304" charset="0"/>
              </a:rPr>
              <a:t>.</a:t>
            </a:r>
            <a:endParaRPr lang="en-US" altLang="en-GB">
              <a:latin typeface="Times New Roman" panose="02020603050405020304" charset="0"/>
              <a:cs typeface="Times New Roman" panose="02020603050405020304" charset="0"/>
            </a:endParaRPr>
          </a:p>
        </p:txBody>
      </p:sp>
      <p:sp>
        <p:nvSpPr>
          <p:cNvPr id="4" name="Text Box 3"/>
          <p:cNvSpPr txBox="1"/>
          <p:nvPr/>
        </p:nvSpPr>
        <p:spPr>
          <a:xfrm>
            <a:off x="867410" y="5400040"/>
            <a:ext cx="8536305" cy="1010920"/>
          </a:xfrm>
          <a:prstGeom prst="rect">
            <a:avLst/>
          </a:prstGeom>
          <a:noFill/>
        </p:spPr>
        <p:txBody>
          <a:bodyPr wrap="square" rtlCol="0">
            <a:noAutofit/>
          </a:bodyPr>
          <a:p>
            <a:r>
              <a:rPr lang="en-US" altLang="en-GB">
                <a:latin typeface="Times New Roman" panose="02020603050405020304" charset="0"/>
                <a:cs typeface="Times New Roman" panose="02020603050405020304" charset="0"/>
                <a:sym typeface="+mn-ea"/>
              </a:rPr>
              <a:t>Ultimately, the project transforms raw agricultural data into actionable, evidence-based insights to better understand what drives productivity and profitability across different farming seasons</a:t>
            </a:r>
            <a:endParaRPr lang="en-GB"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60" y="1829435"/>
            <a:ext cx="8981440" cy="4897120"/>
          </a:xfrm>
        </p:spPr>
        <p:txBody>
          <a:bodyPr>
            <a:normAutofit fontScale="50000"/>
          </a:bodyPr>
          <a:lstStyle/>
          <a:p>
            <a:pPr algn="just">
              <a:lnSpc>
                <a:spcPct val="150000"/>
              </a:lnSpc>
              <a:buClr>
                <a:srgbClr val="000000"/>
              </a:buClr>
              <a:buFont typeface="Arial" panose="020B0604020202020204" pitchFamily="34" charset="0"/>
              <a:buChar char="•"/>
            </a:pPr>
            <a:r>
              <a:rPr lang="en-US" altLang="en-GB" sz="3600" b="1" dirty="0">
                <a:latin typeface="Times New Roman" panose="02020603050405020304" charset="0"/>
                <a:cs typeface="Times New Roman" panose="02020603050405020304" charset="0"/>
              </a:rPr>
              <a:t>Farmers and Agricultural Producers:</a:t>
            </a:r>
            <a:r>
              <a:rPr lang="en-US" altLang="en-GB" sz="3600" dirty="0">
                <a:latin typeface="Times New Roman" panose="02020603050405020304" charset="0"/>
                <a:cs typeface="Times New Roman" panose="02020603050405020304" charset="0"/>
              </a:rPr>
              <a:t> </a:t>
            </a:r>
            <a:r>
              <a:rPr lang="en-US" altLang="en-GB" sz="3200" dirty="0">
                <a:latin typeface="Times New Roman" panose="02020603050405020304" charset="0"/>
                <a:cs typeface="Times New Roman" panose="02020603050405020304" charset="0"/>
              </a:rPr>
              <a:t>Individuals who can use the insights to optimize crop selection, improve water efficiency, and manage costs across different seasons.</a:t>
            </a:r>
            <a:endParaRPr lang="en-US" altLang="en-GB" sz="3200" b="1" dirty="0">
              <a:latin typeface="Times New Roman" panose="02020603050405020304" charset="0"/>
              <a:cs typeface="Times New Roman" panose="02020603050405020304" charset="0"/>
            </a:endParaRPr>
          </a:p>
          <a:p>
            <a:pPr algn="just">
              <a:lnSpc>
                <a:spcPct val="150000"/>
              </a:lnSpc>
              <a:buClr>
                <a:srgbClr val="000000"/>
              </a:buClr>
              <a:buFont typeface="Arial" panose="020B0604020202020204" pitchFamily="34" charset="0"/>
              <a:buChar char="•"/>
            </a:pPr>
            <a:r>
              <a:rPr lang="en-US" altLang="en-GB" sz="3600" b="1" dirty="0">
                <a:latin typeface="Times New Roman" panose="02020603050405020304" charset="0"/>
                <a:cs typeface="Times New Roman" panose="02020603050405020304" charset="0"/>
              </a:rPr>
              <a:t>Agricultural Policymakers and Government Bodies:</a:t>
            </a:r>
            <a:r>
              <a:rPr lang="en-US" altLang="en-GB" sz="3600" dirty="0">
                <a:latin typeface="Times New Roman" panose="02020603050405020304" charset="0"/>
                <a:cs typeface="Times New Roman" panose="02020603050405020304" charset="0"/>
              </a:rPr>
              <a:t> </a:t>
            </a:r>
            <a:r>
              <a:rPr lang="en-US" altLang="en-GB" sz="3200" dirty="0">
                <a:latin typeface="Times New Roman" panose="02020603050405020304" charset="0"/>
                <a:cs typeface="Times New Roman" panose="02020603050405020304" charset="0"/>
              </a:rPr>
              <a:t>Authorities who can utilize seasonal performance trends and resource data to plan subsidies, shape agricultural policies, and support rural development.</a:t>
            </a:r>
            <a:endParaRPr lang="en-US" altLang="en-GB" sz="3200" dirty="0">
              <a:latin typeface="Times New Roman" panose="02020603050405020304" charset="0"/>
              <a:cs typeface="Times New Roman" panose="02020603050405020304" charset="0"/>
            </a:endParaRPr>
          </a:p>
          <a:p>
            <a:pPr algn="just">
              <a:lnSpc>
                <a:spcPct val="150000"/>
              </a:lnSpc>
              <a:buClr>
                <a:srgbClr val="000000"/>
              </a:buClr>
              <a:buFont typeface="Arial" panose="020B0604020202020204" pitchFamily="34" charset="0"/>
              <a:buChar char="•"/>
            </a:pPr>
            <a:r>
              <a:rPr lang="en-US" altLang="en-GB" sz="3600" b="1" dirty="0">
                <a:latin typeface="Times New Roman" panose="02020603050405020304" charset="0"/>
                <a:cs typeface="Times New Roman" panose="02020603050405020304" charset="0"/>
              </a:rPr>
              <a:t>Agri-Tech and Input Companies:</a:t>
            </a:r>
            <a:r>
              <a:rPr lang="en-US" altLang="en-GB" sz="3200" dirty="0">
                <a:latin typeface="Times New Roman" panose="02020603050405020304" charset="0"/>
                <a:cs typeface="Times New Roman" panose="02020603050405020304" charset="0"/>
              </a:rPr>
              <a:t> Businesses providing fertilizers, irrigation systems, or pest management solutions that can target their offerings based on regional and seasonal demand patterns.</a:t>
            </a:r>
            <a:endParaRPr lang="en-US" altLang="en-GB" sz="3200" dirty="0">
              <a:latin typeface="Times New Roman" panose="02020603050405020304" charset="0"/>
              <a:cs typeface="Times New Roman" panose="02020603050405020304" charset="0"/>
            </a:endParaRPr>
          </a:p>
          <a:p>
            <a:pPr algn="just">
              <a:lnSpc>
                <a:spcPct val="150000"/>
              </a:lnSpc>
              <a:buClr>
                <a:srgbClr val="000000"/>
              </a:buClr>
              <a:buFont typeface="Arial" panose="020B0604020202020204" pitchFamily="34" charset="0"/>
              <a:buChar char="•"/>
            </a:pPr>
            <a:r>
              <a:rPr lang="en-US" altLang="en-GB" sz="3600" b="1" dirty="0">
                <a:latin typeface="Times New Roman" panose="02020603050405020304" charset="0"/>
                <a:cs typeface="Times New Roman" panose="02020603050405020304" charset="0"/>
              </a:rPr>
              <a:t>Agricultural Researchers and Analysts:</a:t>
            </a:r>
            <a:r>
              <a:rPr lang="en-US" altLang="en-GB" sz="3600" dirty="0">
                <a:latin typeface="Times New Roman" panose="02020603050405020304" charset="0"/>
                <a:cs typeface="Times New Roman" panose="02020603050405020304" charset="0"/>
              </a:rPr>
              <a:t> </a:t>
            </a:r>
            <a:r>
              <a:rPr lang="en-US" altLang="en-GB" sz="3200" dirty="0">
                <a:latin typeface="Times New Roman" panose="02020603050405020304" charset="0"/>
                <a:cs typeface="Times New Roman" panose="02020603050405020304" charset="0"/>
              </a:rPr>
              <a:t>Academics and data scientists who can build upon these exploratory data analysis frameworks and visualizations for future studies.</a:t>
            </a:r>
            <a:endParaRPr lang="en-US" altLang="en-GB" sz="3200" dirty="0">
              <a:latin typeface="Times New Roman" panose="02020603050405020304" charset="0"/>
              <a:cs typeface="Times New Roman" panose="02020603050405020304" charset="0"/>
            </a:endParaRPr>
          </a:p>
        </p:txBody>
      </p:sp>
      <p:sp>
        <p:nvSpPr>
          <p:cNvPr id="4" name="Title 3"/>
          <p:cNvSpPr>
            <a:spLocks noGrp="1"/>
          </p:cNvSpPr>
          <p:nvPr>
            <p:ph type="title"/>
          </p:nvPr>
        </p:nvSpPr>
        <p:spPr>
          <a:xfrm>
            <a:off x="619760" y="1136015"/>
            <a:ext cx="10046335" cy="542925"/>
          </a:xfrm>
        </p:spPr>
        <p:txBody>
          <a:bodyPr>
            <a:normAutofit/>
          </a:bodyPr>
          <a:lstStyle/>
          <a:p>
            <a:r>
              <a:rPr lang="en-US" sz="2500" dirty="0">
                <a:latin typeface="Times New Roman" panose="02020603050405020304" charset="0"/>
                <a:cs typeface="Times New Roman" panose="02020603050405020304" charset="0"/>
              </a:rPr>
              <a:t>  WHO ARE THE END USERS?</a:t>
            </a:r>
            <a:endParaRPr lang="en-IN" sz="2500" dirty="0">
              <a:latin typeface="Times New Roman" panose="02020603050405020304" charset="0"/>
              <a:cs typeface="Times New Roman" panose="02020603050405020304" charset="0"/>
            </a:endParaRPr>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9" name="Title 8"/>
          <p:cNvSpPr>
            <a:spLocks noGrp="1"/>
          </p:cNvSpPr>
          <p:nvPr>
            <p:ph type="title"/>
          </p:nvPr>
        </p:nvSpPr>
        <p:spPr>
          <a:xfrm>
            <a:off x="1368425" y="896620"/>
            <a:ext cx="6994525" cy="982345"/>
          </a:xfrm>
        </p:spPr>
        <p:txBody>
          <a:bodyPr>
            <a:normAutofit/>
          </a:bodyPr>
          <a:lstStyle/>
          <a:p>
            <a:r>
              <a:rPr lang="en-US" sz="2500" dirty="0">
                <a:latin typeface="Times New Roman" panose="02020603050405020304" charset="0"/>
                <a:cs typeface="Times New Roman" panose="02020603050405020304" charset="0"/>
              </a:rPr>
              <a:t>Technology Used</a:t>
            </a:r>
            <a:endParaRPr lang="en-US" sz="2500" dirty="0">
              <a:latin typeface="Times New Roman" panose="02020603050405020304" charset="0"/>
              <a:cs typeface="Times New Roman" panose="02020603050405020304" charset="0"/>
            </a:endParaRPr>
          </a:p>
        </p:txBody>
      </p:sp>
      <p:sp>
        <p:nvSpPr>
          <p:cNvPr id="3" name="Text Box 2"/>
          <p:cNvSpPr txBox="1"/>
          <p:nvPr/>
        </p:nvSpPr>
        <p:spPr>
          <a:xfrm>
            <a:off x="1778000" y="1589405"/>
            <a:ext cx="8874125" cy="4622800"/>
          </a:xfrm>
          <a:prstGeom prst="rect">
            <a:avLst/>
          </a:prstGeom>
          <a:noFill/>
        </p:spPr>
        <p:txBody>
          <a:bodyPr wrap="square" rtlCol="0">
            <a:noAutofit/>
          </a:bodyPr>
          <a:p>
            <a:pPr algn="just"/>
            <a:r>
              <a:rPr lang="en-US" altLang="en-GB" b="1">
                <a:latin typeface="Times New Roman" panose="02020603050405020304" charset="0"/>
                <a:cs typeface="Times New Roman" panose="02020603050405020304" charset="0"/>
              </a:rPr>
              <a:t>Python:</a:t>
            </a:r>
            <a:r>
              <a:rPr lang="en-US" altLang="en-GB" b="1"/>
              <a:t> </a:t>
            </a:r>
            <a:r>
              <a:rPr lang="en-US" altLang="en-GB"/>
              <a:t>The core programming language used for data processing, analysis, and execution.</a:t>
            </a:r>
            <a:endParaRPr lang="en-US" altLang="en-GB"/>
          </a:p>
          <a:p>
            <a:pPr algn="just"/>
            <a:endParaRPr lang="en-US" altLang="en-GB"/>
          </a:p>
          <a:p>
            <a:pPr algn="just"/>
            <a:r>
              <a:rPr lang="en-US" altLang="en-GB" b="1">
                <a:latin typeface="Times New Roman" panose="02020603050405020304" charset="0"/>
                <a:cs typeface="Times New Roman" panose="02020603050405020304" charset="0"/>
              </a:rPr>
              <a:t>Pandas &amp; NumPy:</a:t>
            </a:r>
            <a:r>
              <a:rPr lang="en-US" altLang="en-GB"/>
              <a:t> Essential libraries used for data manipulation, cleaning, and mathematical computations.</a:t>
            </a:r>
            <a:endParaRPr lang="en-US" altLang="en-GB"/>
          </a:p>
          <a:p>
            <a:pPr algn="just"/>
            <a:endParaRPr lang="en-US" altLang="en-GB"/>
          </a:p>
          <a:p>
            <a:pPr algn="just"/>
            <a:r>
              <a:rPr lang="en-US" altLang="en-GB" b="1">
                <a:latin typeface="Times New Roman" panose="02020603050405020304" charset="0"/>
                <a:cs typeface="Times New Roman" panose="02020603050405020304" charset="0"/>
              </a:rPr>
              <a:t>Matplotlib &amp; Seaborn: </a:t>
            </a:r>
            <a:r>
              <a:rPr lang="en-US" altLang="en-GB"/>
              <a:t>Visualization libraries used to create clean, informative charts and data plots.</a:t>
            </a:r>
            <a:endParaRPr lang="en-US" altLang="en-GB"/>
          </a:p>
          <a:p>
            <a:pPr algn="just"/>
            <a:endParaRPr lang="en-US" altLang="en-GB"/>
          </a:p>
          <a:p>
            <a:pPr algn="just"/>
            <a:r>
              <a:rPr lang="en-US" altLang="en-GB" b="1">
                <a:latin typeface="Times New Roman" panose="02020603050405020304" charset="0"/>
                <a:cs typeface="Times New Roman" panose="02020603050405020304" charset="0"/>
              </a:rPr>
              <a:t>Google Colab:</a:t>
            </a:r>
            <a:r>
              <a:rPr lang="en-US" altLang="en-GB"/>
              <a:t> The cloud-based development environment used to write, run, and document the code.</a:t>
            </a:r>
            <a:endParaRPr lang="en-US" altLang="en-GB"/>
          </a:p>
          <a:p>
            <a:pPr algn="just"/>
            <a:endParaRPr lang="en-US" altLang="en-GB"/>
          </a:p>
          <a:p>
            <a:pPr algn="just"/>
            <a:r>
              <a:rPr lang="en-US" altLang="en-GB" b="1">
                <a:latin typeface="Times New Roman" panose="02020603050405020304" charset="0"/>
                <a:cs typeface="Times New Roman" panose="02020603050405020304" charset="0"/>
              </a:rPr>
              <a:t>GitHub: </a:t>
            </a:r>
            <a:r>
              <a:rPr lang="en-US" altLang="en-GB"/>
              <a:t>The platform used for publishing, sharing, and presenting the well-structured project repository.</a:t>
            </a:r>
            <a:endParaRPr lang="en-GB"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640" y="344170"/>
            <a:ext cx="4938395" cy="789940"/>
          </a:xfrm>
        </p:spPr>
        <p:txBody>
          <a:bodyPr>
            <a:normAutofit fontScale="90000"/>
          </a:bodyPr>
          <a:lstStyle/>
          <a:p>
            <a:r>
              <a:rPr lang="en-US" altLang="en-GB" sz="2500" dirty="0">
                <a:latin typeface="Times New Roman" panose="02020603050405020304" charset="0"/>
                <a:cs typeface="Times New Roman" panose="02020603050405020304" charset="0"/>
              </a:rPr>
              <a:t>   </a:t>
            </a:r>
            <a:r>
              <a:rPr lang="en-GB" sz="2500" dirty="0">
                <a:latin typeface="Times New Roman" panose="02020603050405020304" charset="0"/>
                <a:cs typeface="Times New Roman" panose="02020603050405020304" charset="0"/>
              </a:rPr>
              <a:t>RESULTS</a:t>
            </a:r>
            <a:r>
              <a:rPr lang="en-GB" dirty="0"/>
              <a:t> </a:t>
            </a:r>
            <a:endParaRPr lang="en-IN" dirty="0"/>
          </a:p>
        </p:txBody>
      </p:sp>
      <p:sp>
        <p:nvSpPr>
          <p:cNvPr id="7" name="Text Placeholder 30"/>
          <p:cNvSpPr txBox="1"/>
          <p:nvPr/>
        </p:nvSpPr>
        <p:spPr>
          <a:xfrm>
            <a:off x="320675" y="1275080"/>
            <a:ext cx="3343275" cy="66611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descr="1"/>
          <p:cNvPicPr>
            <a:picLocks noChangeAspect="1"/>
          </p:cNvPicPr>
          <p:nvPr/>
        </p:nvPicPr>
        <p:blipFill>
          <a:blip r:embed="rId2"/>
          <a:stretch>
            <a:fillRect/>
          </a:stretch>
        </p:blipFill>
        <p:spPr>
          <a:xfrm>
            <a:off x="592455" y="1941195"/>
            <a:ext cx="5504180" cy="3975100"/>
          </a:xfrm>
          <a:prstGeom prst="rect">
            <a:avLst/>
          </a:prstGeom>
        </p:spPr>
      </p:pic>
      <p:pic>
        <p:nvPicPr>
          <p:cNvPr id="11" name="Picture 10" descr="2"/>
          <p:cNvPicPr>
            <a:picLocks noChangeAspect="1"/>
          </p:cNvPicPr>
          <p:nvPr/>
        </p:nvPicPr>
        <p:blipFill>
          <a:blip r:embed="rId3"/>
          <a:stretch>
            <a:fillRect/>
          </a:stretch>
        </p:blipFill>
        <p:spPr>
          <a:xfrm>
            <a:off x="6096635" y="344170"/>
            <a:ext cx="5566410" cy="3084830"/>
          </a:xfrm>
          <a:prstGeom prst="rect">
            <a:avLst/>
          </a:prstGeom>
        </p:spPr>
      </p:pic>
      <p:pic>
        <p:nvPicPr>
          <p:cNvPr id="12" name="Picture 11" descr="3"/>
          <p:cNvPicPr>
            <a:picLocks noChangeAspect="1"/>
          </p:cNvPicPr>
          <p:nvPr/>
        </p:nvPicPr>
        <p:blipFill>
          <a:blip r:embed="rId4"/>
          <a:stretch>
            <a:fillRect/>
          </a:stretch>
        </p:blipFill>
        <p:spPr>
          <a:xfrm>
            <a:off x="6859905" y="3712210"/>
            <a:ext cx="3802380" cy="30562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sz="2500" dirty="0">
                <a:latin typeface="Times New Roman" panose="02020603050405020304" charset="0"/>
                <a:cs typeface="Times New Roman" panose="02020603050405020304" charset="0"/>
              </a:rPr>
              <a:t>RESULTS</a:t>
            </a:r>
            <a:r>
              <a:rPr lang="en-GB" dirty="0"/>
              <a:t> </a:t>
            </a:r>
            <a:endParaRPr lang="en-IN" dirty="0"/>
          </a:p>
        </p:txBody>
      </p:sp>
      <p:sp>
        <p:nvSpPr>
          <p:cNvPr id="7" name="Text Placeholder 30"/>
          <p:cNvSpPr txBox="1"/>
          <p:nvPr/>
        </p:nvSpPr>
        <p:spPr>
          <a:xfrm>
            <a:off x="321617"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4"/>
          <p:cNvPicPr>
            <a:picLocks noChangeAspect="1"/>
          </p:cNvPicPr>
          <p:nvPr/>
        </p:nvPicPr>
        <p:blipFill>
          <a:blip r:embed="rId2"/>
          <a:stretch>
            <a:fillRect/>
          </a:stretch>
        </p:blipFill>
        <p:spPr>
          <a:xfrm>
            <a:off x="420370" y="1220470"/>
            <a:ext cx="4347845" cy="2272030"/>
          </a:xfrm>
          <a:prstGeom prst="rect">
            <a:avLst/>
          </a:prstGeom>
        </p:spPr>
      </p:pic>
      <p:pic>
        <p:nvPicPr>
          <p:cNvPr id="6" name="Picture 5" descr="5"/>
          <p:cNvPicPr>
            <a:picLocks noChangeAspect="1"/>
          </p:cNvPicPr>
          <p:nvPr/>
        </p:nvPicPr>
        <p:blipFill>
          <a:blip r:embed="rId3"/>
          <a:stretch>
            <a:fillRect/>
          </a:stretch>
        </p:blipFill>
        <p:spPr>
          <a:xfrm>
            <a:off x="4895215" y="1201420"/>
            <a:ext cx="4890135" cy="2145665"/>
          </a:xfrm>
          <a:prstGeom prst="rect">
            <a:avLst/>
          </a:prstGeom>
        </p:spPr>
      </p:pic>
      <p:pic>
        <p:nvPicPr>
          <p:cNvPr id="9" name="Picture 8" descr="6"/>
          <p:cNvPicPr>
            <a:picLocks noChangeAspect="1"/>
          </p:cNvPicPr>
          <p:nvPr/>
        </p:nvPicPr>
        <p:blipFill>
          <a:blip r:embed="rId4"/>
          <a:stretch>
            <a:fillRect/>
          </a:stretch>
        </p:blipFill>
        <p:spPr>
          <a:xfrm>
            <a:off x="321310" y="3324860"/>
            <a:ext cx="5247005" cy="3340100"/>
          </a:xfrm>
          <a:prstGeom prst="rect">
            <a:avLst/>
          </a:prstGeom>
        </p:spPr>
      </p:pic>
      <p:pic>
        <p:nvPicPr>
          <p:cNvPr id="11" name="Picture 10" descr="7"/>
          <p:cNvPicPr>
            <a:picLocks noChangeAspect="1"/>
          </p:cNvPicPr>
          <p:nvPr/>
        </p:nvPicPr>
        <p:blipFill>
          <a:blip r:embed="rId5"/>
          <a:stretch>
            <a:fillRect/>
          </a:stretch>
        </p:blipFill>
        <p:spPr>
          <a:xfrm>
            <a:off x="5843270" y="3655695"/>
            <a:ext cx="4884420" cy="30092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sz="2500" dirty="0">
                <a:latin typeface="Times New Roman" panose="02020603050405020304" charset="0"/>
                <a:cs typeface="Times New Roman" panose="02020603050405020304" charset="0"/>
              </a:rPr>
              <a:t>RESULTS</a:t>
            </a:r>
            <a:r>
              <a:rPr lang="en-GB" dirty="0"/>
              <a:t>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8"/>
          <p:cNvPicPr>
            <a:picLocks noChangeAspect="1"/>
          </p:cNvPicPr>
          <p:nvPr/>
        </p:nvPicPr>
        <p:blipFill>
          <a:blip r:embed="rId2"/>
          <a:stretch>
            <a:fillRect/>
          </a:stretch>
        </p:blipFill>
        <p:spPr>
          <a:xfrm>
            <a:off x="461645" y="1201420"/>
            <a:ext cx="4857750" cy="2515235"/>
          </a:xfrm>
          <a:prstGeom prst="rect">
            <a:avLst/>
          </a:prstGeom>
        </p:spPr>
      </p:pic>
      <p:pic>
        <p:nvPicPr>
          <p:cNvPr id="6" name="Picture 5" descr="9"/>
          <p:cNvPicPr>
            <a:picLocks noChangeAspect="1"/>
          </p:cNvPicPr>
          <p:nvPr/>
        </p:nvPicPr>
        <p:blipFill>
          <a:blip r:embed="rId3"/>
          <a:stretch>
            <a:fillRect/>
          </a:stretch>
        </p:blipFill>
        <p:spPr>
          <a:xfrm>
            <a:off x="5737860" y="965200"/>
            <a:ext cx="5224780" cy="2639695"/>
          </a:xfrm>
          <a:prstGeom prst="rect">
            <a:avLst/>
          </a:prstGeom>
        </p:spPr>
      </p:pic>
      <p:pic>
        <p:nvPicPr>
          <p:cNvPr id="9" name="Picture 8" descr="10"/>
          <p:cNvPicPr>
            <a:picLocks noChangeAspect="1"/>
          </p:cNvPicPr>
          <p:nvPr/>
        </p:nvPicPr>
        <p:blipFill>
          <a:blip r:embed="rId4"/>
          <a:stretch>
            <a:fillRect/>
          </a:stretch>
        </p:blipFill>
        <p:spPr>
          <a:xfrm>
            <a:off x="400685" y="3716655"/>
            <a:ext cx="5885815" cy="2948305"/>
          </a:xfrm>
          <a:prstGeom prst="rect">
            <a:avLst/>
          </a:prstGeom>
        </p:spPr>
      </p:pic>
      <p:pic>
        <p:nvPicPr>
          <p:cNvPr id="11" name="Picture 10" descr="11"/>
          <p:cNvPicPr>
            <a:picLocks noChangeAspect="1"/>
          </p:cNvPicPr>
          <p:nvPr/>
        </p:nvPicPr>
        <p:blipFill>
          <a:blip r:embed="rId5"/>
          <a:stretch>
            <a:fillRect/>
          </a:stretch>
        </p:blipFill>
        <p:spPr>
          <a:xfrm>
            <a:off x="6490335" y="3716655"/>
            <a:ext cx="5055235" cy="30308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sz="2500" dirty="0">
                <a:latin typeface="Times New Roman" panose="02020603050405020304" charset="0"/>
                <a:cs typeface="Times New Roman" panose="02020603050405020304" charset="0"/>
              </a:rPr>
              <a:t>RESULTS</a:t>
            </a:r>
            <a:r>
              <a:rPr lang="en-GB" dirty="0"/>
              <a:t> </a:t>
            </a:r>
            <a:endParaRPr lang="en-IN"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12"/>
          <p:cNvPicPr>
            <a:picLocks noChangeAspect="1"/>
          </p:cNvPicPr>
          <p:nvPr/>
        </p:nvPicPr>
        <p:blipFill>
          <a:blip r:embed="rId2"/>
          <a:stretch>
            <a:fillRect/>
          </a:stretch>
        </p:blipFill>
        <p:spPr>
          <a:xfrm>
            <a:off x="675640" y="1274445"/>
            <a:ext cx="5038725" cy="2293620"/>
          </a:xfrm>
          <a:prstGeom prst="rect">
            <a:avLst/>
          </a:prstGeom>
        </p:spPr>
      </p:pic>
      <p:pic>
        <p:nvPicPr>
          <p:cNvPr id="9" name="Picture 8" descr="13"/>
          <p:cNvPicPr>
            <a:picLocks noChangeAspect="1"/>
          </p:cNvPicPr>
          <p:nvPr/>
        </p:nvPicPr>
        <p:blipFill>
          <a:blip r:embed="rId3"/>
          <a:stretch>
            <a:fillRect/>
          </a:stretch>
        </p:blipFill>
        <p:spPr>
          <a:xfrm>
            <a:off x="217805" y="3760470"/>
            <a:ext cx="11781155" cy="2904490"/>
          </a:xfrm>
          <a:prstGeom prst="rect">
            <a:avLst/>
          </a:prstGeom>
        </p:spPr>
      </p:pic>
      <p:pic>
        <p:nvPicPr>
          <p:cNvPr id="11" name="Picture 10" descr="14"/>
          <p:cNvPicPr>
            <a:picLocks noChangeAspect="1"/>
          </p:cNvPicPr>
          <p:nvPr/>
        </p:nvPicPr>
        <p:blipFill>
          <a:blip r:embed="rId4"/>
          <a:stretch>
            <a:fillRect/>
          </a:stretch>
        </p:blipFill>
        <p:spPr>
          <a:xfrm>
            <a:off x="5780405" y="880745"/>
            <a:ext cx="6218555" cy="26117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60400" y="469900"/>
            <a:ext cx="4275455" cy="746125"/>
          </a:xfrm>
        </p:spPr>
        <p:txBody>
          <a:bodyPr/>
          <a:p>
            <a:r>
              <a:rPr lang="en-US" altLang="en-GB" sz="2500">
                <a:latin typeface="Times New Roman" panose="02020603050405020304" charset="0"/>
                <a:cs typeface="Times New Roman" panose="02020603050405020304" charset="0"/>
              </a:rPr>
              <a:t>RESULTS</a:t>
            </a:r>
            <a:endParaRPr lang="en-US" altLang="en-GB" sz="2500">
              <a:latin typeface="Times New Roman" panose="02020603050405020304" charset="0"/>
              <a:cs typeface="Times New Roman" panose="02020603050405020304" charset="0"/>
            </a:endParaRPr>
          </a:p>
        </p:txBody>
      </p:sp>
      <p:pic>
        <p:nvPicPr>
          <p:cNvPr id="5" name="Picture 4" descr="16"/>
          <p:cNvPicPr>
            <a:picLocks noChangeAspect="1"/>
          </p:cNvPicPr>
          <p:nvPr/>
        </p:nvPicPr>
        <p:blipFill>
          <a:blip r:embed="rId1"/>
          <a:stretch>
            <a:fillRect/>
          </a:stretch>
        </p:blipFill>
        <p:spPr>
          <a:xfrm>
            <a:off x="361315" y="943610"/>
            <a:ext cx="5998845" cy="2484755"/>
          </a:xfrm>
          <a:prstGeom prst="rect">
            <a:avLst/>
          </a:prstGeom>
        </p:spPr>
      </p:pic>
      <p:pic>
        <p:nvPicPr>
          <p:cNvPr id="7" name="Picture 6" descr="15"/>
          <p:cNvPicPr>
            <a:picLocks noChangeAspect="1"/>
          </p:cNvPicPr>
          <p:nvPr/>
        </p:nvPicPr>
        <p:blipFill>
          <a:blip r:embed="rId2"/>
          <a:stretch>
            <a:fillRect/>
          </a:stretch>
        </p:blipFill>
        <p:spPr>
          <a:xfrm>
            <a:off x="241300" y="3429000"/>
            <a:ext cx="11643995" cy="3360420"/>
          </a:xfrm>
          <a:prstGeom prst="rect">
            <a:avLst/>
          </a:prstGeom>
        </p:spPr>
      </p:pic>
      <p:pic>
        <p:nvPicPr>
          <p:cNvPr id="8" name="Picture 7" descr="17"/>
          <p:cNvPicPr>
            <a:picLocks noChangeAspect="1"/>
          </p:cNvPicPr>
          <p:nvPr/>
        </p:nvPicPr>
        <p:blipFill>
          <a:blip r:embed="rId3"/>
          <a:stretch>
            <a:fillRect/>
          </a:stretch>
        </p:blipFill>
        <p:spPr>
          <a:xfrm>
            <a:off x="6360160" y="469900"/>
            <a:ext cx="5525135" cy="2880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660400" y="6292215"/>
            <a:ext cx="4064000" cy="368300"/>
          </a:xfrm>
          <a:prstGeom prst="rect">
            <a:avLst/>
          </a:prstGeom>
          <a:solidFill>
            <a:schemeClr val="bg1"/>
          </a:solidFill>
        </p:spPr>
        <p:txBody>
          <a:bodyPr wrap="square" rtlCol="0">
            <a:spAutoFit/>
          </a:bodyPr>
          <a:p>
            <a:endParaRPr lang="en-GB" altLang="en-US"/>
          </a:p>
        </p:txBody>
      </p:sp>
      <p:sp>
        <p:nvSpPr>
          <p:cNvPr id="6" name="Text Box 5"/>
          <p:cNvSpPr txBox="1"/>
          <p:nvPr/>
        </p:nvSpPr>
        <p:spPr>
          <a:xfrm>
            <a:off x="777875" y="650240"/>
            <a:ext cx="2747010" cy="753110"/>
          </a:xfrm>
          <a:prstGeom prst="rect">
            <a:avLst/>
          </a:prstGeom>
          <a:noFill/>
        </p:spPr>
        <p:txBody>
          <a:bodyPr wrap="square" rtlCol="0">
            <a:noAutofit/>
          </a:bodyPr>
          <a:p>
            <a:r>
              <a:rPr lang="en-US" altLang="en-GB" sz="2500" b="1">
                <a:latin typeface="Times New Roman" panose="02020603050405020304" charset="0"/>
                <a:cs typeface="Times New Roman" panose="02020603050405020304" charset="0"/>
              </a:rPr>
              <a:t>RESULTS</a:t>
            </a:r>
            <a:endParaRPr lang="en-US" altLang="en-GB" sz="2500" b="1">
              <a:latin typeface="Times New Roman" panose="02020603050405020304" charset="0"/>
              <a:cs typeface="Times New Roman" panose="02020603050405020304" charset="0"/>
            </a:endParaRPr>
          </a:p>
        </p:txBody>
      </p:sp>
      <p:pic>
        <p:nvPicPr>
          <p:cNvPr id="8" name="Picture 7" descr="18"/>
          <p:cNvPicPr>
            <a:picLocks noChangeAspect="1"/>
          </p:cNvPicPr>
          <p:nvPr/>
        </p:nvPicPr>
        <p:blipFill>
          <a:blip r:embed="rId1"/>
          <a:stretch>
            <a:fillRect/>
          </a:stretch>
        </p:blipFill>
        <p:spPr>
          <a:xfrm>
            <a:off x="193675" y="1202690"/>
            <a:ext cx="6536055" cy="4469130"/>
          </a:xfrm>
          <a:prstGeom prst="rect">
            <a:avLst/>
          </a:prstGeom>
        </p:spPr>
      </p:pic>
      <p:pic>
        <p:nvPicPr>
          <p:cNvPr id="10" name="Picture 9" descr="19"/>
          <p:cNvPicPr>
            <a:picLocks noChangeAspect="1"/>
          </p:cNvPicPr>
          <p:nvPr/>
        </p:nvPicPr>
        <p:blipFill>
          <a:blip r:embed="rId2"/>
          <a:stretch>
            <a:fillRect/>
          </a:stretch>
        </p:blipFill>
        <p:spPr>
          <a:xfrm>
            <a:off x="6729730" y="1112520"/>
            <a:ext cx="5462270" cy="47580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688975" y="6116955"/>
            <a:ext cx="2449830" cy="565785"/>
          </a:xfrm>
          <a:prstGeom prst="rect">
            <a:avLst/>
          </a:prstGeom>
          <a:solidFill>
            <a:schemeClr val="bg1"/>
          </a:solidFill>
        </p:spPr>
        <p:txBody>
          <a:bodyPr wrap="square" rtlCol="0">
            <a:noAutofit/>
          </a:bodyPr>
          <a:p>
            <a:endParaRPr lang="en-GB" altLang="en-US"/>
          </a:p>
        </p:txBody>
      </p:sp>
      <p:pic>
        <p:nvPicPr>
          <p:cNvPr id="8" name="Picture 7" descr="20"/>
          <p:cNvPicPr>
            <a:picLocks noChangeAspect="1"/>
          </p:cNvPicPr>
          <p:nvPr/>
        </p:nvPicPr>
        <p:blipFill>
          <a:blip r:embed="rId1"/>
          <a:stretch>
            <a:fillRect/>
          </a:stretch>
        </p:blipFill>
        <p:spPr>
          <a:xfrm>
            <a:off x="219075" y="861060"/>
            <a:ext cx="6610350" cy="3623310"/>
          </a:xfrm>
          <a:prstGeom prst="rect">
            <a:avLst/>
          </a:prstGeom>
        </p:spPr>
      </p:pic>
      <p:pic>
        <p:nvPicPr>
          <p:cNvPr id="9" name="Picture 8" descr="21"/>
          <p:cNvPicPr>
            <a:picLocks noChangeAspect="1"/>
          </p:cNvPicPr>
          <p:nvPr/>
        </p:nvPicPr>
        <p:blipFill>
          <a:blip r:embed="rId2"/>
          <a:stretch>
            <a:fillRect/>
          </a:stretch>
        </p:blipFill>
        <p:spPr>
          <a:xfrm>
            <a:off x="3721100" y="4352290"/>
            <a:ext cx="5338445" cy="2330450"/>
          </a:xfrm>
          <a:prstGeom prst="rect">
            <a:avLst/>
          </a:prstGeom>
        </p:spPr>
      </p:pic>
      <p:pic>
        <p:nvPicPr>
          <p:cNvPr id="10" name="Picture 9" descr="22"/>
          <p:cNvPicPr>
            <a:picLocks noChangeAspect="1"/>
          </p:cNvPicPr>
          <p:nvPr/>
        </p:nvPicPr>
        <p:blipFill>
          <a:blip r:embed="rId3"/>
          <a:stretch>
            <a:fillRect/>
          </a:stretch>
        </p:blipFill>
        <p:spPr>
          <a:xfrm>
            <a:off x="6012815" y="278765"/>
            <a:ext cx="6179185" cy="4033520"/>
          </a:xfrm>
          <a:prstGeom prst="rect">
            <a:avLst/>
          </a:prstGeom>
        </p:spPr>
      </p:pic>
      <p:sp>
        <p:nvSpPr>
          <p:cNvPr id="11" name="Text Box 10"/>
          <p:cNvSpPr txBox="1"/>
          <p:nvPr/>
        </p:nvSpPr>
        <p:spPr>
          <a:xfrm>
            <a:off x="395605" y="278130"/>
            <a:ext cx="2899410" cy="475615"/>
          </a:xfrm>
          <a:prstGeom prst="rect">
            <a:avLst/>
          </a:prstGeom>
          <a:noFill/>
        </p:spPr>
        <p:txBody>
          <a:bodyPr wrap="square" rtlCol="0">
            <a:spAutoFit/>
          </a:bodyPr>
          <a:p>
            <a:r>
              <a:rPr lang="en-US" altLang="en-GB" sz="2500" b="1">
                <a:latin typeface="Times New Roman" panose="02020603050405020304" charset="0"/>
                <a:cs typeface="Times New Roman" panose="02020603050405020304" charset="0"/>
              </a:rPr>
              <a:t>RESULTS</a:t>
            </a:r>
            <a:endParaRPr lang="en-US" altLang="en-GB" sz="2500" b="1">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44195" y="6184265"/>
            <a:ext cx="2244090" cy="673735"/>
          </a:xfrm>
          <a:prstGeom prst="rect">
            <a:avLst/>
          </a:prstGeom>
          <a:solidFill>
            <a:schemeClr val="bg1"/>
          </a:solidFill>
        </p:spPr>
        <p:txBody>
          <a:bodyPr wrap="square" rtlCol="0">
            <a:noAutofit/>
          </a:bodyPr>
          <a:p>
            <a:endParaRPr lang="en-GB" altLang="en-US"/>
          </a:p>
        </p:txBody>
      </p:sp>
      <p:sp>
        <p:nvSpPr>
          <p:cNvPr id="6" name="Text Box 5"/>
          <p:cNvSpPr txBox="1"/>
          <p:nvPr/>
        </p:nvSpPr>
        <p:spPr>
          <a:xfrm>
            <a:off x="472440" y="255905"/>
            <a:ext cx="3465195" cy="475615"/>
          </a:xfrm>
          <a:prstGeom prst="rect">
            <a:avLst/>
          </a:prstGeom>
          <a:noFill/>
        </p:spPr>
        <p:txBody>
          <a:bodyPr wrap="square" rtlCol="0">
            <a:spAutoFit/>
          </a:bodyPr>
          <a:p>
            <a:r>
              <a:rPr lang="en-US" altLang="en-GB" sz="2500" b="1"/>
              <a:t>RESULTS</a:t>
            </a:r>
            <a:endParaRPr lang="en-US" altLang="en-GB" sz="2500" b="1"/>
          </a:p>
        </p:txBody>
      </p:sp>
      <p:pic>
        <p:nvPicPr>
          <p:cNvPr id="7" name="Picture 6" descr="25"/>
          <p:cNvPicPr>
            <a:picLocks noChangeAspect="1"/>
          </p:cNvPicPr>
          <p:nvPr/>
        </p:nvPicPr>
        <p:blipFill>
          <a:blip r:embed="rId1"/>
          <a:stretch>
            <a:fillRect/>
          </a:stretch>
        </p:blipFill>
        <p:spPr>
          <a:xfrm>
            <a:off x="0" y="4034790"/>
            <a:ext cx="9683750" cy="2823210"/>
          </a:xfrm>
          <a:prstGeom prst="rect">
            <a:avLst/>
          </a:prstGeom>
        </p:spPr>
      </p:pic>
      <p:pic>
        <p:nvPicPr>
          <p:cNvPr id="8" name="Picture 7" descr="24"/>
          <p:cNvPicPr>
            <a:picLocks noChangeAspect="1"/>
          </p:cNvPicPr>
          <p:nvPr/>
        </p:nvPicPr>
        <p:blipFill>
          <a:blip r:embed="rId2"/>
          <a:stretch>
            <a:fillRect/>
          </a:stretch>
        </p:blipFill>
        <p:spPr>
          <a:xfrm>
            <a:off x="6200140" y="53340"/>
            <a:ext cx="5910580" cy="4123055"/>
          </a:xfrm>
          <a:prstGeom prst="rect">
            <a:avLst/>
          </a:prstGeom>
        </p:spPr>
      </p:pic>
      <p:pic>
        <p:nvPicPr>
          <p:cNvPr id="9" name="Picture 8" descr="23"/>
          <p:cNvPicPr>
            <a:picLocks noChangeAspect="1"/>
          </p:cNvPicPr>
          <p:nvPr/>
        </p:nvPicPr>
        <p:blipFill>
          <a:blip r:embed="rId3"/>
          <a:stretch>
            <a:fillRect/>
          </a:stretch>
        </p:blipFill>
        <p:spPr>
          <a:xfrm>
            <a:off x="94615" y="731520"/>
            <a:ext cx="6001385" cy="28206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80390" y="6354445"/>
            <a:ext cx="2181225" cy="368300"/>
          </a:xfrm>
          <a:prstGeom prst="rect">
            <a:avLst/>
          </a:prstGeom>
          <a:solidFill>
            <a:schemeClr val="bg1"/>
          </a:solidFill>
        </p:spPr>
        <p:txBody>
          <a:bodyPr wrap="square" rtlCol="0">
            <a:spAutoFit/>
          </a:bodyPr>
          <a:p>
            <a:endParaRPr lang="en-GB" altLang="en-US"/>
          </a:p>
        </p:txBody>
      </p:sp>
      <p:sp>
        <p:nvSpPr>
          <p:cNvPr id="6" name="Text Box 5"/>
          <p:cNvSpPr txBox="1"/>
          <p:nvPr/>
        </p:nvSpPr>
        <p:spPr>
          <a:xfrm>
            <a:off x="580390" y="259715"/>
            <a:ext cx="3204845" cy="538480"/>
          </a:xfrm>
          <a:prstGeom prst="rect">
            <a:avLst/>
          </a:prstGeom>
          <a:noFill/>
        </p:spPr>
        <p:txBody>
          <a:bodyPr wrap="square" rtlCol="0">
            <a:noAutofit/>
          </a:bodyPr>
          <a:p>
            <a:r>
              <a:rPr lang="en-US" altLang="en-GB" b="1">
                <a:latin typeface="Times New Roman" panose="02020603050405020304" charset="0"/>
                <a:cs typeface="Times New Roman" panose="02020603050405020304" charset="0"/>
              </a:rPr>
              <a:t>RESULTS</a:t>
            </a:r>
            <a:endParaRPr lang="en-US" altLang="en-GB" b="1">
              <a:latin typeface="Times New Roman" panose="02020603050405020304" charset="0"/>
              <a:cs typeface="Times New Roman" panose="02020603050405020304" charset="0"/>
            </a:endParaRPr>
          </a:p>
        </p:txBody>
      </p:sp>
      <p:pic>
        <p:nvPicPr>
          <p:cNvPr id="10" name="Picture 9" descr="26"/>
          <p:cNvPicPr>
            <a:picLocks noChangeAspect="1"/>
          </p:cNvPicPr>
          <p:nvPr/>
        </p:nvPicPr>
        <p:blipFill>
          <a:blip r:embed="rId1"/>
          <a:stretch>
            <a:fillRect/>
          </a:stretch>
        </p:blipFill>
        <p:spPr>
          <a:xfrm>
            <a:off x="366395" y="695960"/>
            <a:ext cx="6216015" cy="3312795"/>
          </a:xfrm>
          <a:prstGeom prst="rect">
            <a:avLst/>
          </a:prstGeom>
        </p:spPr>
      </p:pic>
      <p:pic>
        <p:nvPicPr>
          <p:cNvPr id="11" name="Picture 10" descr="27"/>
          <p:cNvPicPr>
            <a:picLocks noChangeAspect="1"/>
          </p:cNvPicPr>
          <p:nvPr/>
        </p:nvPicPr>
        <p:blipFill>
          <a:blip r:embed="rId2"/>
          <a:stretch>
            <a:fillRect/>
          </a:stretch>
        </p:blipFill>
        <p:spPr>
          <a:xfrm>
            <a:off x="6654165" y="259715"/>
            <a:ext cx="5452745" cy="4031615"/>
          </a:xfrm>
          <a:prstGeom prst="rect">
            <a:avLst/>
          </a:prstGeom>
        </p:spPr>
      </p:pic>
      <p:sp>
        <p:nvSpPr>
          <p:cNvPr id="12" name="Text Box 11"/>
          <p:cNvSpPr txBox="1"/>
          <p:nvPr/>
        </p:nvSpPr>
        <p:spPr>
          <a:xfrm>
            <a:off x="365760" y="4236720"/>
            <a:ext cx="11701780" cy="2414905"/>
          </a:xfrm>
          <a:prstGeom prst="rect">
            <a:avLst/>
          </a:prstGeom>
          <a:noFill/>
        </p:spPr>
        <p:txBody>
          <a:bodyPr wrap="square" rtlCol="0">
            <a:noAutofit/>
          </a:bodyPr>
          <a:p>
            <a:pPr marL="285750" indent="-285750" algn="just">
              <a:buFont typeface="Arial" panose="020B0604020202020204" pitchFamily="34" charset="0"/>
              <a:buChar char="•"/>
            </a:pPr>
            <a:r>
              <a:rPr lang="en-US" altLang="en-GB" b="1">
                <a:latin typeface="Times New Roman" panose="02020603050405020304" charset="0"/>
                <a:cs typeface="Times New Roman" panose="02020603050405020304" charset="0"/>
              </a:rPr>
              <a:t>Seasonal Yield &amp; Profit Trends:</a:t>
            </a:r>
            <a:r>
              <a:rPr lang="en-US" altLang="en-GB"/>
              <a:t> </a:t>
            </a:r>
            <a:r>
              <a:rPr lang="en-US" altLang="en-GB" sz="1600">
                <a:latin typeface="Times New Roman" panose="02020603050405020304" charset="0"/>
                <a:cs typeface="Times New Roman" panose="02020603050405020304" charset="0"/>
              </a:rPr>
              <a:t>Identified clear performance patterns, highlighting how crop yields and profit margins fluctuate across different farming seasons.</a:t>
            </a:r>
            <a:endParaRPr lang="en-US" altLang="en-GB" sz="16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endParaRPr lang="en-US" altLang="en-GB"/>
          </a:p>
          <a:p>
            <a:pPr marL="285750" indent="-285750" algn="just">
              <a:buFont typeface="Arial" panose="020B0604020202020204" pitchFamily="34" charset="0"/>
              <a:buChar char="•"/>
            </a:pPr>
            <a:r>
              <a:rPr lang="en-US" altLang="en-GB" b="1">
                <a:latin typeface="Times New Roman" panose="02020603050405020304" charset="0"/>
                <a:cs typeface="Times New Roman" panose="02020603050405020304" charset="0"/>
              </a:rPr>
              <a:t>Resource &amp; Irrigation Impact:</a:t>
            </a:r>
            <a:r>
              <a:rPr lang="en-US" altLang="en-GB"/>
              <a:t> </a:t>
            </a:r>
            <a:r>
              <a:rPr lang="en-US" altLang="en-GB" sz="1600">
                <a:latin typeface="Times New Roman" panose="02020603050405020304" charset="0"/>
                <a:cs typeface="Times New Roman" panose="02020603050405020304" charset="0"/>
              </a:rPr>
              <a:t>Evaluated the direct role of various irrigation methods and resource utilization on overall farm productivity and cost efficiency.</a:t>
            </a:r>
            <a:endParaRPr lang="en-US" altLang="en-GB"/>
          </a:p>
          <a:p>
            <a:pPr marL="285750" indent="-285750" algn="just">
              <a:buFont typeface="Arial" panose="020B0604020202020204" pitchFamily="34" charset="0"/>
              <a:buChar char="•"/>
            </a:pPr>
            <a:endParaRPr lang="en-US" altLang="en-GB" sz="16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GB" b="1">
                <a:latin typeface="Times New Roman" panose="02020603050405020304" charset="0"/>
                <a:cs typeface="Times New Roman" panose="02020603050405020304" charset="0"/>
              </a:rPr>
              <a:t>Data-Driven Efficiency Insights:</a:t>
            </a:r>
            <a:r>
              <a:rPr lang="en-US" altLang="en-GB"/>
              <a:t> </a:t>
            </a:r>
            <a:r>
              <a:rPr lang="en-US" altLang="en-GB" sz="1600">
                <a:latin typeface="Times New Roman" panose="02020603050405020304" charset="0"/>
                <a:cs typeface="Times New Roman" panose="02020603050405020304" charset="0"/>
              </a:rPr>
              <a:t>Established key performance indicators to help understand what drives success across farm-level records and regional conditions.</a:t>
            </a:r>
            <a:endParaRPr lang="en-GB" altLang="en-US" sz="16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640" y="693420"/>
            <a:ext cx="6225540" cy="1247775"/>
          </a:xfrm>
        </p:spPr>
        <p:txBody>
          <a:bodyPr>
            <a:normAutofit/>
          </a:bodyPr>
          <a:lstStyle/>
          <a:p>
            <a:r>
              <a:rPr lang="en-US" altLang="en-IN" sz="4000" dirty="0">
                <a:latin typeface="Times New Roman" panose="02020603050405020304" charset="0"/>
                <a:cs typeface="Times New Roman" panose="02020603050405020304" charset="0"/>
              </a:rPr>
              <a:t> </a:t>
            </a:r>
            <a:r>
              <a:rPr lang="en-IN" sz="4000" dirty="0">
                <a:latin typeface="Times New Roman" panose="02020603050405020304" charset="0"/>
                <a:cs typeface="Times New Roman" panose="02020603050405020304" charset="0"/>
              </a:rPr>
              <a:t>Future scope</a:t>
            </a:r>
            <a:endParaRPr lang="en-IN" sz="4000" dirty="0">
              <a:latin typeface="Times New Roman" panose="02020603050405020304" charset="0"/>
              <a:cs typeface="Times New Roman" panose="02020603050405020304" charset="0"/>
            </a:endParaRPr>
          </a:p>
        </p:txBody>
      </p:sp>
      <p:sp>
        <p:nvSpPr>
          <p:cNvPr id="7" name="Text Placeholder 30"/>
          <p:cNvSpPr txBox="1"/>
          <p:nvPr/>
        </p:nvSpPr>
        <p:spPr>
          <a:xfrm>
            <a:off x="374957"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890905" y="1940560"/>
            <a:ext cx="10066020" cy="4227195"/>
          </a:xfrm>
          <a:prstGeom prst="rect">
            <a:avLst/>
          </a:prstGeom>
          <a:noFill/>
        </p:spPr>
        <p:txBody>
          <a:bodyPr wrap="square" rtlCol="0">
            <a:noAutofit/>
          </a:bodyPr>
          <a:p>
            <a:pPr algn="just"/>
            <a:r>
              <a:rPr lang="en-US" altLang="en-GB" b="1">
                <a:latin typeface="Times New Roman" panose="02020603050405020304" charset="0"/>
                <a:cs typeface="Times New Roman" panose="02020603050405020304" charset="0"/>
              </a:rPr>
              <a:t>Integration of Predictive Machine Learning Models:</a:t>
            </a:r>
            <a:r>
              <a:rPr lang="en-US" altLang="en-GB"/>
              <a:t> </a:t>
            </a:r>
            <a:r>
              <a:rPr lang="en-US" altLang="en-GB">
                <a:latin typeface="Times New Roman" panose="02020603050405020304" charset="0"/>
                <a:cs typeface="Times New Roman" panose="02020603050405020304" charset="0"/>
              </a:rPr>
              <a:t>Extend the exploratory analysis into predictive modeling by implementing machine learning algorithms (such as Random Forest or XGBoost) to forecast future crop yields and net profits based on upcoming climatic and soil conditions.</a:t>
            </a:r>
            <a:endParaRPr lang="en-US" altLang="en-GB">
              <a:latin typeface="Times New Roman" panose="02020603050405020304" charset="0"/>
              <a:cs typeface="Times New Roman" panose="02020603050405020304" charset="0"/>
            </a:endParaRPr>
          </a:p>
          <a:p>
            <a:pPr algn="just"/>
            <a:endParaRPr lang="en-US" altLang="en-GB"/>
          </a:p>
          <a:p>
            <a:pPr algn="just"/>
            <a:r>
              <a:rPr lang="en-US" altLang="en-GB" b="1">
                <a:latin typeface="Times New Roman" panose="02020603050405020304" charset="0"/>
                <a:cs typeface="Times New Roman" panose="02020603050405020304" charset="0"/>
              </a:rPr>
              <a:t>Real-Time IoT and Weather Integration:</a:t>
            </a:r>
            <a:r>
              <a:rPr lang="en-US" altLang="en-GB"/>
              <a:t> </a:t>
            </a:r>
            <a:r>
              <a:rPr lang="en-US" altLang="en-GB">
                <a:latin typeface="Times New Roman" panose="02020603050405020304" charset="0"/>
                <a:cs typeface="Times New Roman" panose="02020603050405020304" charset="0"/>
              </a:rPr>
              <a:t>Incorporate live weather APIs and IoT sensor data (such as live soil moisture and temperature feeds) to provide dynamic, real-time recommendations for irrigation and fertilizer use.</a:t>
            </a:r>
            <a:endParaRPr lang="en-US" altLang="en-GB">
              <a:latin typeface="Times New Roman" panose="02020603050405020304" charset="0"/>
              <a:cs typeface="Times New Roman" panose="02020603050405020304" charset="0"/>
            </a:endParaRPr>
          </a:p>
          <a:p>
            <a:pPr algn="just"/>
            <a:endParaRPr lang="en-US" altLang="en-GB"/>
          </a:p>
          <a:p>
            <a:pPr algn="just"/>
            <a:r>
              <a:rPr lang="en-US" altLang="en-GB" b="1">
                <a:latin typeface="Times New Roman" panose="02020603050405020304" charset="0"/>
                <a:cs typeface="Times New Roman" panose="02020603050405020304" charset="0"/>
              </a:rPr>
              <a:t>Expanded Regional Coverage: </a:t>
            </a:r>
            <a:r>
              <a:rPr lang="en-US" altLang="en-GB">
                <a:latin typeface="Times New Roman" panose="02020603050405020304" charset="0"/>
                <a:cs typeface="Times New Roman" panose="02020603050405020304" charset="0"/>
              </a:rPr>
              <a:t>Scale the dataset to include a broader range of districts, agro-climatic zones, and international farming regions to test the robustness and adaptability of the analytical framework.</a:t>
            </a:r>
            <a:endParaRPr lang="en-US" altLang="en-GB">
              <a:latin typeface="Times New Roman" panose="02020603050405020304" charset="0"/>
              <a:cs typeface="Times New Roman" panose="02020603050405020304" charset="0"/>
            </a:endParaRPr>
          </a:p>
          <a:p>
            <a:pPr algn="just"/>
            <a:endParaRPr lang="en-US" altLang="en-GB">
              <a:latin typeface="Times New Roman" panose="02020603050405020304" charset="0"/>
              <a:cs typeface="Times New Roman" panose="02020603050405020304" charset="0"/>
            </a:endParaRPr>
          </a:p>
          <a:p>
            <a:pPr algn="just"/>
            <a:r>
              <a:rPr lang="en-US" altLang="en-GB" b="1">
                <a:latin typeface="Times New Roman" panose="02020603050405020304" charset="0"/>
                <a:cs typeface="Times New Roman" panose="02020603050405020304" charset="0"/>
              </a:rPr>
              <a:t>AI-Driven Sustainability Policy Frameworks:</a:t>
            </a:r>
            <a:r>
              <a:rPr lang="en-US" altLang="en-GB">
                <a:latin typeface="Times New Roman" panose="02020603050405020304" charset="0"/>
                <a:cs typeface="Times New Roman" panose="02020603050405020304" charset="0"/>
              </a:rPr>
              <a:t> Align future iterations with advanced AI applications to support national long-term agricultural development goals and sustainable farming initiatives.</a:t>
            </a:r>
            <a:endParaRPr lang="en-GB" altLang="en-US">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1067435" y="855345"/>
            <a:ext cx="4344035" cy="835660"/>
          </a:xfrm>
        </p:spPr>
        <p:txBody>
          <a:bodyPr>
            <a:normAutofit/>
          </a:bodyPr>
          <a:lstStyle/>
          <a:p>
            <a:r>
              <a:rPr lang="en-IN" sz="2500" dirty="0">
                <a:latin typeface="Times New Roman" panose="02020603050405020304" charset="0"/>
                <a:cs typeface="Times New Roman" panose="02020603050405020304" charset="0"/>
              </a:rPr>
              <a:t>GitHub Link</a:t>
            </a:r>
            <a:endParaRPr lang="en-IN" sz="2500" dirty="0">
              <a:latin typeface="Times New Roman" panose="02020603050405020304" charset="0"/>
              <a:cs typeface="Times New Roman" panose="02020603050405020304" charset="0"/>
            </a:endParaRPr>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217930" y="2010410"/>
            <a:ext cx="10071100" cy="1014095"/>
          </a:xfrm>
          <a:prstGeom prst="rect">
            <a:avLst/>
          </a:prstGeom>
          <a:noFill/>
        </p:spPr>
        <p:txBody>
          <a:bodyPr wrap="square" rtlCol="0">
            <a:noAutofit/>
          </a:bodyPr>
          <a:p>
            <a:r>
              <a:rPr lang="en-US" altLang="en-GB"/>
              <a:t>https://github.com/Harischandra-Prasad-Vissamsetti/Seasonal-Agriculture-Performance-Analysis.git</a:t>
            </a:r>
            <a:endParaRPr lang="en-US" altLang="en-GB"/>
          </a:p>
        </p:txBody>
      </p:sp>
      <p:sp>
        <p:nvSpPr>
          <p:cNvPr id="6" name="Text Box 5"/>
          <p:cNvSpPr txBox="1"/>
          <p:nvPr/>
        </p:nvSpPr>
        <p:spPr>
          <a:xfrm>
            <a:off x="1217930" y="3267075"/>
            <a:ext cx="9280525" cy="2127250"/>
          </a:xfrm>
          <a:prstGeom prst="rect">
            <a:avLst/>
          </a:prstGeom>
          <a:noFill/>
        </p:spPr>
        <p:txBody>
          <a:bodyPr wrap="square" rtlCol="0">
            <a:noAutofit/>
          </a:bodyPr>
          <a:p>
            <a:pPr algn="just"/>
            <a:r>
              <a:rPr lang="en-US" altLang="en-GB" b="1">
                <a:latin typeface="Times New Roman" panose="02020603050405020304" charset="0"/>
                <a:cs typeface="Times New Roman" panose="02020603050405020304" charset="0"/>
              </a:rPr>
              <a:t>Explore the Code &amp; Analysis:</a:t>
            </a:r>
            <a:r>
              <a:rPr lang="en-US" altLang="en-GB"/>
              <a:t> </a:t>
            </a:r>
            <a:r>
              <a:rPr lang="en-US" altLang="en-GB">
                <a:latin typeface="Times New Roman" panose="02020603050405020304" charset="0"/>
                <a:cs typeface="Times New Roman" panose="02020603050405020304" charset="0"/>
              </a:rPr>
              <a:t>Check out the complete source code, detailed Google Colab notebooks, and full project documentation on GitHub.</a:t>
            </a:r>
            <a:endParaRPr lang="en-GB" altLang="en-US">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640" y="756920"/>
            <a:ext cx="10585450" cy="1306830"/>
          </a:xfrm>
        </p:spPr>
        <p:txBody>
          <a:bodyPr>
            <a:normAutofit/>
          </a:bodyPr>
          <a:lstStyle/>
          <a:p>
            <a:r>
              <a:rPr lang="en-IN" sz="2500" dirty="0">
                <a:latin typeface="Times New Roman" panose="02020603050405020304" charset="0"/>
                <a:cs typeface="Times New Roman" panose="02020603050405020304" charset="0"/>
              </a:rPr>
              <a:t>VOIS Course </a:t>
            </a:r>
            <a:r>
              <a:rPr lang="en-US" altLang="en-IN" sz="2500" dirty="0">
                <a:latin typeface="Times New Roman" panose="02020603050405020304" charset="0"/>
                <a:cs typeface="Times New Roman" panose="02020603050405020304" charset="0"/>
              </a:rPr>
              <a:t>C</a:t>
            </a:r>
            <a:r>
              <a:rPr lang="en-IN" sz="2500" dirty="0">
                <a:latin typeface="Times New Roman" panose="02020603050405020304" charset="0"/>
                <a:cs typeface="Times New Roman" panose="02020603050405020304" charset="0"/>
              </a:rPr>
              <a:t>ompletion </a:t>
            </a:r>
            <a:r>
              <a:rPr lang="en-US" altLang="en-IN" sz="2500" dirty="0">
                <a:latin typeface="Times New Roman" panose="02020603050405020304" charset="0"/>
                <a:cs typeface="Times New Roman" panose="02020603050405020304" charset="0"/>
              </a:rPr>
              <a:t>C</a:t>
            </a:r>
            <a:r>
              <a:rPr lang="en-IN" sz="2500" dirty="0">
                <a:latin typeface="Times New Roman" panose="02020603050405020304" charset="0"/>
                <a:cs typeface="Times New Roman" panose="02020603050405020304" charset="0"/>
              </a:rPr>
              <a:t>ertificate - Course </a:t>
            </a:r>
            <a:r>
              <a:rPr lang="en-US" altLang="en-IN" sz="2500" dirty="0">
                <a:latin typeface="Times New Roman" panose="02020603050405020304" charset="0"/>
                <a:cs typeface="Times New Roman" panose="02020603050405020304" charset="0"/>
              </a:rPr>
              <a:t>N</a:t>
            </a:r>
            <a:r>
              <a:rPr lang="en-IN" sz="2500" dirty="0">
                <a:latin typeface="Times New Roman" panose="02020603050405020304" charset="0"/>
                <a:cs typeface="Times New Roman" panose="02020603050405020304" charset="0"/>
              </a:rPr>
              <a:t>ame- Data Visualization</a:t>
            </a:r>
            <a:r>
              <a:rPr lang="en-IN" sz="3200" dirty="0">
                <a:latin typeface="Times New Roman" panose="02020603050405020304" charset="0"/>
                <a:cs typeface="Times New Roman" panose="02020603050405020304" charset="0"/>
              </a:rPr>
              <a:t> </a:t>
            </a:r>
            <a:endParaRPr lang="en-IN" sz="3200" dirty="0">
              <a:latin typeface="Times New Roman" panose="02020603050405020304" charset="0"/>
              <a:cs typeface="Times New Roman" panose="02020603050405020304" charset="0"/>
            </a:endParaRPr>
          </a:p>
        </p:txBody>
      </p:sp>
      <p:sp>
        <p:nvSpPr>
          <p:cNvPr id="7" name="Text Placeholder 30"/>
          <p:cNvSpPr txBox="1"/>
          <p:nvPr/>
        </p:nvSpPr>
        <p:spPr>
          <a:xfrm>
            <a:off x="321617"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WhatsApp Image 2026-09-15 at 10.29.39 PM"/>
          <p:cNvPicPr>
            <a:picLocks noChangeAspect="1"/>
          </p:cNvPicPr>
          <p:nvPr/>
        </p:nvPicPr>
        <p:blipFill>
          <a:blip r:embed="rId2"/>
          <a:stretch>
            <a:fillRect/>
          </a:stretch>
        </p:blipFill>
        <p:spPr>
          <a:xfrm>
            <a:off x="899160" y="1536700"/>
            <a:ext cx="9463405" cy="50615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337310" y="1292860"/>
            <a:ext cx="7328535" cy="1911985"/>
          </a:xfrm>
          <a:prstGeom prst="rect">
            <a:avLst/>
          </a:prstGeom>
        </p:spPr>
        <p:txBody>
          <a:bodyPr anchor="ctr">
            <a:normAutofit/>
          </a:bodyPr>
          <a:lstStyle/>
          <a:p>
            <a:pPr algn="ctr"/>
            <a:r>
              <a:rPr lang="en-US" sz="4800" b="1" dirty="0">
                <a:solidFill>
                  <a:schemeClr val="tx1"/>
                </a:solidFill>
                <a:latin typeface="Times New Roman" panose="02020603050405020304" charset="0"/>
                <a:cs typeface="Times New Roman" panose="02020603050405020304" charset="0"/>
              </a:rPr>
              <a:t>         Thank you</a:t>
            </a:r>
            <a:endParaRPr lang="en-US" sz="4800" b="1" dirty="0">
              <a:solidFill>
                <a:schemeClr val="tx1"/>
              </a:solidFill>
              <a:latin typeface="Times New Roman" panose="02020603050405020304" charset="0"/>
              <a:cs typeface="Times New Roman" panose="02020603050405020304" charset="0"/>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1017905" y="3307080"/>
            <a:ext cx="6932295" cy="227584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1604645" y="3307080"/>
            <a:ext cx="8780780" cy="227584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en-GB" sz="2200" dirty="0">
                <a:solidFill>
                  <a:schemeClr val="tx1"/>
                </a:solidFill>
                <a:latin typeface="Times New Roman" panose="02020603050405020304" charset="0"/>
                <a:cs typeface="Times New Roman" panose="02020603050405020304" charset="0"/>
              </a:rPr>
              <a:t>Grateful for the opportunity to share data-driven insights for sustainable agriculture.</a:t>
            </a:r>
            <a:endParaRPr lang="en-US" altLang="en-GB" sz="2200" dirty="0">
              <a:solidFill>
                <a:schemeClr val="tx1"/>
              </a:solidFill>
              <a:latin typeface="Times New Roman" panose="02020603050405020304" charset="0"/>
              <a:cs typeface="Times New Roman" panose="02020603050405020304" charset="0"/>
            </a:endParaRPr>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05D99ABA-76CE-4A8E-B5F0-C051B96628DE}">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5101</Words>
  <Application>WPS Presentation</Application>
  <PresentationFormat>Widescreen</PresentationFormat>
  <Paragraphs>98</Paragraphs>
  <Slides>18</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Wingdings 3</vt:lpstr>
      <vt:lpstr>Arial</vt:lpstr>
      <vt:lpstr>Calibri</vt:lpstr>
      <vt:lpstr>Times New Roman</vt:lpstr>
      <vt:lpstr>Trebuchet MS</vt:lpstr>
      <vt:lpstr>Microsoft YaHei</vt:lpstr>
      <vt:lpstr>Arial Unicode MS</vt:lpstr>
      <vt:lpstr>Facet</vt:lpstr>
      <vt:lpstr> Project Title - Seasonal Agriculture Performance Analysis</vt:lpstr>
      <vt:lpstr>  PROBLEM  STATEMENT</vt:lpstr>
      <vt:lpstr>Project Description </vt:lpstr>
      <vt:lpstr>  WHO ARE THE END USERS?</vt:lpstr>
      <vt:lpstr>Technology Used</vt:lpstr>
      <vt:lpstr>   RESULTS </vt:lpstr>
      <vt:lpstr>RESULTS </vt:lpstr>
      <vt:lpstr>RESULTS </vt:lpstr>
      <vt:lpstr>RESULTS </vt:lpstr>
      <vt:lpstr>RESULTS</vt:lpstr>
      <vt:lpstr>PowerPoint 演示文稿</vt:lpstr>
      <vt:lpstr>PowerPoint 演示文稿</vt:lpstr>
      <vt:lpstr>PowerPoint 演示文稿</vt:lpstr>
      <vt:lpstr>PowerPoint 演示文稿</vt:lpstr>
      <vt:lpstr> Future scope</vt:lpstr>
      <vt:lpstr>GitHub Link</vt:lpstr>
      <vt:lpstr>VOIS Course Completion Certificate - Course Name- Data Visualization </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Harischandra Prasad</cp:lastModifiedBy>
  <cp:revision>103</cp:revision>
  <dcterms:created xsi:type="dcterms:W3CDTF">2021-07-11T13:13:00Z</dcterms:created>
  <dcterms:modified xsi:type="dcterms:W3CDTF">2026-09-16T03:49:36Z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055E6A6E0810406C81A7C042BDD76E87_13</vt:lpwstr>
  </property>
  <property fmtid="{D5CDD505-2E9C-101B-9397-08002B2CF9AE}" pid="4" name="KSOProductBuildVer">
    <vt:lpwstr>2057-12.2.0.23206</vt:lpwstr>
  </property>
</Properties>
</file>